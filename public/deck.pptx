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57" r:id="rId4"/>
    <p:sldId id="258" r:id="rId5"/>
    <p:sldId id="270" r:id="rId6"/>
    <p:sldId id="26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69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91"/>
    <p:restoredTop sz="96115"/>
  </p:normalViewPr>
  <p:slideViewPr>
    <p:cSldViewPr snapToGrid="0" snapToObjects="1">
      <p:cViewPr>
        <p:scale>
          <a:sx n="50" d="100"/>
          <a:sy n="50" d="100"/>
        </p:scale>
        <p:origin x="888" y="1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429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nigamarnav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31069"/>
            <a:ext cx="438150" cy="438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2600" y="914400"/>
            <a:ext cx="110504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Conci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4264580" y="1002506"/>
            <a:ext cx="29668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PRE-SEED ·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527599"/>
            <a:ext cx="14716125" cy="2941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250" b="1" kern="0" spc="-450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Gets the plan out of the </a:t>
            </a:r>
            <a:r>
              <a:rPr lang="en-US" sz="11550" i="1" kern="0" spc="-45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chat.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1142999" y="8572500"/>
            <a:ext cx="7221071" cy="1109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“executive” assistant that converts group ideas into action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5416733" y="9077325"/>
            <a:ext cx="1804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804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35928" y="890589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8248" y="1842083"/>
            <a:ext cx="3776472" cy="3776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825011"/>
            <a:ext cx="5166969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kern="0" spc="-57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Arnav Nigam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143000" y="6512669"/>
            <a:ext cx="5166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102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</a:t>
            </a:r>
            <a:r>
              <a:rPr lang="en-US" sz="1500" kern="0" spc="102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/Strategy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6957440"/>
            <a:ext cx="5166969" cy="2415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UChicago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Econ &amp; DS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#1 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U.S. debater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out of 18,000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Lead youth policy advisor to a mayor for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200,000+ city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Major GTM projects for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Uber, Instacart, SF Unicorns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Manager for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1B+ Views 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Influencer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119378" y="5825011"/>
            <a:ext cx="516704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kern="0" spc="-57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Sandeep Sethuraman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7119378" y="6512669"/>
            <a:ext cx="51670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102" dirty="0">
                <a:solidFill>
                  <a:srgbClr val="2563EB"/>
                </a:solidFill>
                <a:latin typeface="IBM Plex Mono" pitchFamily="34" charset="0"/>
              </a:rPr>
              <a:t>Technical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119378" y="6933628"/>
            <a:ext cx="5167046" cy="2462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Stanford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Math &amp; CS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International master in chess (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top 75 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 the US)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3rd engineer 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at a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Unicorn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Startup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Built actively used AI Terminal for Congress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2</a:t>
            </a:r>
            <a:r>
              <a:rPr lang="en-US" sz="1700" baseline="300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nd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-place at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Stanford </a:t>
            </a:r>
            <a:r>
              <a:rPr lang="en-US" sz="1700" b="1" dirty="0" err="1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TreeHacks</a:t>
            </a:r>
            <a:endParaRPr lang="en-US" sz="1700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7054535-9DA6-702F-B793-E98461AC6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843" y="1837512"/>
            <a:ext cx="3764117" cy="37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95AC2699-BA61-E0A2-CF41-18E7A3516D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74561" y="1841494"/>
            <a:ext cx="3777650" cy="3777650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EA8C5DD4-B254-34B8-2011-3220CA71F474}"/>
              </a:ext>
            </a:extLst>
          </p:cNvPr>
          <p:cNvSpPr/>
          <p:nvPr/>
        </p:nvSpPr>
        <p:spPr>
          <a:xfrm>
            <a:off x="12679902" y="5825011"/>
            <a:ext cx="5166969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kern="0" spc="-57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Brandon Lee</a:t>
            </a:r>
            <a:endParaRPr lang="en-US" sz="28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4643A47-F928-DC06-7E4D-5A26680039A5}"/>
              </a:ext>
            </a:extLst>
          </p:cNvPr>
          <p:cNvSpPr/>
          <p:nvPr/>
        </p:nvSpPr>
        <p:spPr>
          <a:xfrm>
            <a:off x="12679902" y="6512669"/>
            <a:ext cx="5166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102" dirty="0">
                <a:solidFill>
                  <a:srgbClr val="2563EB"/>
                </a:solidFill>
                <a:latin typeface="IBM Plex Mono" pitchFamily="34" charset="0"/>
              </a:rPr>
              <a:t>Technical</a:t>
            </a:r>
            <a:endParaRPr lang="en-US" sz="16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0F08858-36D6-E1E6-061D-CFFBFE8A566F}"/>
              </a:ext>
            </a:extLst>
          </p:cNvPr>
          <p:cNvSpPr/>
          <p:nvPr/>
        </p:nvSpPr>
        <p:spPr>
          <a:xfrm>
            <a:off x="12679902" y="6962203"/>
            <a:ext cx="5166969" cy="2405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Vanderbilt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Math &amp; CS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researcher 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at an adaptive learning lab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Built ML infrastructure at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ASML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Helped develop </a:t>
            </a:r>
            <a:r>
              <a:rPr lang="en-US" sz="1700" b="1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proprietary LLM </a:t>
            </a:r>
            <a:r>
              <a:rPr lang="en-US" sz="1700" dirty="0"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from ground up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31645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590675"/>
            <a:ext cx="14519910" cy="261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Group planning isn't an information problem. It's a </a:t>
            </a:r>
            <a:r>
              <a:rPr lang="en-US" sz="6300" i="1" kern="0" spc="-202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commitment </a:t>
            </a: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problem.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143000" y="4434334"/>
            <a:ext cx="1039939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One person ends up collecting everyone's dates, comparing flights, finding lodging, picking restaurants, and then chasing six Venmos for weeks.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8448675"/>
            <a:ext cx="108718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35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25+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43000" y="9182100"/>
            <a:ext cx="11613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messages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7706" y="8448675"/>
            <a:ext cx="42490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35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837706" y="9182100"/>
            <a:ext cx="10987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69829" y="8448675"/>
            <a:ext cx="14260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35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none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4469829" y="9182100"/>
            <a:ext cx="14260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booked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78591" y="7069634"/>
            <a:ext cx="6866409" cy="2341066"/>
          </a:xfrm>
          <a:prstGeom prst="roundRect">
            <a:avLst>
              <a:gd name="adj" fmla="val 8951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35766" y="7326809"/>
            <a:ext cx="4061668" cy="520005"/>
          </a:xfrm>
          <a:prstGeom prst="roundRect">
            <a:avLst>
              <a:gd name="adj" fmla="val 36634"/>
            </a:avLst>
          </a:prstGeom>
          <a:solidFill>
            <a:srgbClr val="EC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26266" y="7450634"/>
            <a:ext cx="380251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ok who's actually free that weekend??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007132" y="7980164"/>
            <a:ext cx="3880693" cy="520005"/>
          </a:xfrm>
          <a:prstGeom prst="roundRect">
            <a:avLst>
              <a:gd name="adj" fmla="val 36634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197632" y="8103989"/>
            <a:ext cx="361611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 can do either, someone just pick 🙏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535766" y="8633520"/>
            <a:ext cx="3281660" cy="520005"/>
          </a:xfrm>
          <a:prstGeom prst="roundRect">
            <a:avLst>
              <a:gd name="adj" fmla="val 36634"/>
            </a:avLst>
          </a:prstGeom>
          <a:solidFill>
            <a:srgbClr val="EC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26266" y="8757345"/>
            <a:ext cx="299911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flights are like $420 now btw…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3362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3431307"/>
            <a:ext cx="14519910" cy="966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Conci does the work the group </a:t>
            </a:r>
            <a:r>
              <a:rPr lang="en-US" sz="6300" i="1" kern="0" spc="-202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won't.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143000" y="4645893"/>
            <a:ext cx="1039939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Drop in a group chat, a link, or a single sentence. Conci plans the trip, the group votes, everyone pays in, and it books. No 47-message thread, no shared doc edited into chaos.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6593756"/>
            <a:ext cx="1726034" cy="557213"/>
          </a:xfrm>
          <a:prstGeom prst="roundRect">
            <a:avLst>
              <a:gd name="adj" fmla="val 50000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9225" y="6736631"/>
            <a:ext cx="12497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 </a:t>
            </a:r>
            <a:r>
              <a:rPr lang="en-US" sz="1650" kern="0" spc="165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40484" y="6593756"/>
            <a:ext cx="1726034" cy="557213"/>
          </a:xfrm>
          <a:prstGeom prst="roundRect">
            <a:avLst>
              <a:gd name="adj" fmla="val 50000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6709" y="6736631"/>
            <a:ext cx="12497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 </a:t>
            </a:r>
            <a:r>
              <a:rPr lang="en-US" sz="1650" kern="0" spc="165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VOTE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937968" y="6593756"/>
            <a:ext cx="2019374" cy="557213"/>
          </a:xfrm>
          <a:prstGeom prst="roundRect">
            <a:avLst>
              <a:gd name="adj" fmla="val 50000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4193" y="6736631"/>
            <a:ext cx="15431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 </a:t>
            </a:r>
            <a:r>
              <a:rPr lang="en-US" sz="1650" kern="0" spc="165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 IN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128793" y="6593756"/>
            <a:ext cx="1726034" cy="557213"/>
          </a:xfrm>
          <a:prstGeom prst="roundRect">
            <a:avLst>
              <a:gd name="adj" fmla="val 50000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5018" y="6736631"/>
            <a:ext cx="124978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 </a:t>
            </a:r>
            <a:r>
              <a:rPr lang="en-US" sz="1650" kern="0" spc="165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BOOK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3362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76375"/>
            <a:ext cx="15992400" cy="179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From a messy thread to a booked trip in </a:t>
            </a:r>
            <a:r>
              <a:rPr lang="en-US" sz="6300" i="1" kern="0" spc="-202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3667423"/>
            <a:ext cx="5079950" cy="3143250"/>
          </a:xfrm>
          <a:prstGeom prst="roundRect">
            <a:avLst>
              <a:gd name="adj" fmla="val 424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2525" y="3676948"/>
            <a:ext cx="5060900" cy="3124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7020223"/>
            <a:ext cx="5079950" cy="19050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43000" y="7248823"/>
            <a:ext cx="52323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7629823"/>
            <a:ext cx="52323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Drop it in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43000" y="8106073"/>
            <a:ext cx="523234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Paste a group chat screenshot, a link, a voice note, or just type it. Conci parses dates, budget, and vibe into a structured plan.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03950" y="3667423"/>
            <a:ext cx="5080025" cy="3143250"/>
          </a:xfrm>
          <a:prstGeom prst="roundRect">
            <a:avLst>
              <a:gd name="adj" fmla="val 424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13475" y="3676948"/>
            <a:ext cx="5060975" cy="3124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03950" y="7020223"/>
            <a:ext cx="5080025" cy="19050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603950" y="7248823"/>
            <a:ext cx="52324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03950" y="7629823"/>
            <a:ext cx="52324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group shapes it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603950" y="8106073"/>
            <a:ext cx="523242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Friends join by link or code, add preferences, vote on options, suggest swaps, and contribute money - without derailing anything.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2064975" y="3667423"/>
            <a:ext cx="5079950" cy="3143250"/>
          </a:xfrm>
          <a:prstGeom prst="roundRect">
            <a:avLst>
              <a:gd name="adj" fmla="val 424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74500" y="3676948"/>
            <a:ext cx="5060900" cy="3124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2064975" y="7020223"/>
            <a:ext cx="5079950" cy="19050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2064975" y="7248823"/>
            <a:ext cx="52323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064975" y="7629823"/>
            <a:ext cx="52323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Conci builds, books, and gives day views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2064975" y="8106073"/>
            <a:ext cx="523234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Day view shows the itinerary for the day when clicking on any specific day within the trip.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23805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2999" y="1300210"/>
            <a:ext cx="14814755" cy="212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100" b="1" kern="0" spc="-163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live, calendar-first itinerary the whole group can </a:t>
            </a:r>
            <a:r>
              <a:rPr lang="en-US" sz="5100" i="1" kern="0" spc="-163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see.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885633" y="3095069"/>
            <a:ext cx="5066109" cy="212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0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Lodging by date, transport between cities, restaurants, activities, and cost-per-person - in one view.</a:t>
            </a:r>
            <a:endParaRPr lang="en-US" sz="2300" dirty="0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14908CE1-1000-BFDC-5313-DF363F337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6234EC-51F5-E293-1FBA-E37268A1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742" y="2078579"/>
            <a:ext cx="10263378" cy="7838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23805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3558778"/>
            <a:ext cx="7620000" cy="3921919"/>
          </a:xfrm>
          <a:prstGeom prst="roundRect">
            <a:avLst>
              <a:gd name="adj" fmla="val 3886"/>
            </a:avLst>
          </a:prstGeom>
          <a:ln w="9525">
            <a:solidFill>
              <a:srgbClr val="E5E7EB"/>
            </a:solidFill>
            <a:prstDash val="solid"/>
          </a:ln>
          <a:effectLst>
            <a:outerShdw blurRad="323850" dist="13335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3568303"/>
            <a:ext cx="7600950" cy="39028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0" y="2846040"/>
            <a:ext cx="7848600" cy="212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100" b="1" kern="0" spc="-163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Everyone has a say. </a:t>
            </a:r>
            <a:r>
              <a:rPr lang="en-US" sz="5100" i="1" kern="0" spc="-163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</a:t>
            </a:r>
            <a:r>
              <a:rPr lang="en-US" sz="5100" b="1" kern="0" spc="-163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runs a spreadsheet.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9351645" y="5271269"/>
            <a:ext cx="7869555" cy="2960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Guests can suggest any preferences onto the plan or none, mark “interested” or “not for me,” and flag budgets, allergies, and dates. Conci synthesizes it into the best group plan.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shared memory layer learns each person and each group over time, so every next trip is easier.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29668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WE WIN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3247876"/>
            <a:ext cx="14519910" cy="1895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Everyone else is </a:t>
            </a:r>
            <a:r>
              <a:rPr lang="en-US" sz="6300" i="1" kern="0" spc="-202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additive. </a:t>
            </a: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Conci is </a:t>
            </a:r>
            <a:r>
              <a:rPr lang="en-US" sz="6300" i="1" kern="0" spc="-202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reductive.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143000" y="4733999"/>
            <a:ext cx="12384741" cy="4895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Travel apps add more options. Conci removes decisions. We focus on simplicity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sz="2250" dirty="0">
              <a:solidFill>
                <a:srgbClr val="374151"/>
              </a:solidFill>
              <a:latin typeface="Schibsted Grotesk" pitchFamily="34" charset="0"/>
              <a:ea typeface="Schibsted Grotesk" pitchFamily="34" charset="-122"/>
              <a:cs typeface="Schibsted Grotesk" pitchFamily="34" charset="-120"/>
            </a:endParaRPr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2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are young founders building inside the exact population where group plans begin - screenshots, group chats, low attention spans, and lack of coordination. We move faster than incumbents and iterate directly with users who face this problem</a:t>
            </a:r>
          </a:p>
          <a:p>
            <a:pPr algn="l">
              <a:lnSpc>
                <a:spcPct val="145000"/>
              </a:lnSpc>
            </a:pPr>
            <a:endParaRPr lang="en-US" sz="2250" dirty="0">
              <a:solidFill>
                <a:srgbClr val="374151"/>
              </a:solidFill>
              <a:latin typeface="Schibsted Grotesk" pitchFamily="34" charset="0"/>
              <a:ea typeface="Schibsted Grotesk" pitchFamily="34" charset="-122"/>
              <a:cs typeface="Schibsted Grotesk" pitchFamily="34" charset="-120"/>
            </a:endParaRPr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2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Demos shaping product pre-launch, functional MVP, 2M+ follower influencer-led launch path, early hotel conversations, AI-native, and a compounding group preference/data flywheel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31645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00175"/>
            <a:ext cx="14519910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500" b="1" kern="0" spc="-144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Everyone helps you </a:t>
            </a:r>
            <a:r>
              <a:rPr lang="en-US" sz="4500" i="1" kern="0" spc="-144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look. </a:t>
            </a:r>
            <a:r>
              <a:rPr lang="en-US" sz="4500" b="1" kern="0" spc="-144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Nobody gets the group to </a:t>
            </a:r>
            <a:r>
              <a:rPr lang="en-US" sz="4500" i="1" kern="0" spc="-144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commit.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65919" y="3046065"/>
            <a:ext cx="1448581" cy="575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-18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Drives commitment &amp; booking 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47850" y="3044130"/>
            <a:ext cx="15297150" cy="5718870"/>
          </a:xfrm>
          <a:prstGeom prst="roundRect">
            <a:avLst>
              <a:gd name="adj" fmla="val 366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96425" y="3301305"/>
            <a:ext cx="19050" cy="5204520"/>
          </a:xfrm>
          <a:prstGeom prst="rect">
            <a:avLst/>
          </a:prstGeom>
          <a:solidFill>
            <a:srgbClr val="D4D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5025" y="5903565"/>
            <a:ext cx="14782800" cy="19050"/>
          </a:xfrm>
          <a:prstGeom prst="rect">
            <a:avLst/>
          </a:prstGeom>
          <a:solidFill>
            <a:srgbClr val="D4D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29000" y="7679606"/>
            <a:ext cx="323850" cy="32385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5250" y="7693893"/>
            <a:ext cx="1334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475569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Group chat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4490963" y="4829696"/>
            <a:ext cx="323850" cy="32385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7213" y="4843983"/>
            <a:ext cx="16661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475569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Spreadsheets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7716478" y="5741640"/>
            <a:ext cx="323850" cy="32385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92728" y="5755928"/>
            <a:ext cx="7153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475569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TripIt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96896" y="6881664"/>
            <a:ext cx="323850" cy="32385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3146" y="6895951"/>
            <a:ext cx="13267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475569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Wanderlog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294367" y="6140648"/>
            <a:ext cx="323850" cy="32385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70617" y="6154936"/>
            <a:ext cx="10596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475569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Mindtrip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868001" y="6995666"/>
            <a:ext cx="323850" cy="32385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251" y="7009954"/>
            <a:ext cx="9679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475569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Layla.ai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3575357" y="3821385"/>
            <a:ext cx="1314450" cy="1314450"/>
          </a:xfrm>
          <a:prstGeom prst="ellipse">
            <a:avLst/>
          </a:prstGeom>
          <a:solidFill>
            <a:srgbClr val="2563EB"/>
          </a:solidFill>
          <a:ln/>
          <a:effectLst>
            <a:outerShdw blurRad="419100" dist="171450" dir="5400000" algn="bl" rotWithShape="0">
              <a:srgbClr val="2563EB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812962" y="4288110"/>
            <a:ext cx="91536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Conci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67959" y="9032080"/>
            <a:ext cx="2650258" cy="68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00" b="1" kern="0" spc="-18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Does the work </a:t>
            </a:r>
            <a:r>
              <a:rPr lang="en-US" b="1" kern="0" spc="-18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for you →</a:t>
            </a:r>
            <a:endParaRPr lang="en-US" dirty="0"/>
          </a:p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21885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514475"/>
            <a:ext cx="14519910" cy="179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Start with group trips. Expand to </a:t>
            </a:r>
            <a:r>
              <a:rPr lang="en-US" sz="6300" i="1" kern="0" spc="-202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plan.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3724573"/>
            <a:ext cx="7360890" cy="742950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47800" y="3724573"/>
            <a:ext cx="697211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Group travel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789640" y="3960316"/>
            <a:ext cx="749824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100M+ </a:t>
            </a:r>
            <a:r>
              <a:rPr lang="en-US" sz="165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 millennial &amp; Gen Z adults plan group activities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4677073"/>
            <a:ext cx="9964787" cy="742950"/>
          </a:xfrm>
          <a:prstGeom prst="roundRect">
            <a:avLst>
              <a:gd name="adj" fmla="val 20513"/>
            </a:avLst>
          </a:prstGeom>
          <a:solidFill>
            <a:srgbClr val="2563E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47800" y="4677073"/>
            <a:ext cx="96541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Dinners, events &amp; reservations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393537" y="4784229"/>
            <a:ext cx="592400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1B+ </a:t>
            </a:r>
            <a:r>
              <a:rPr lang="en-US" sz="165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everyday plans that never make it out of the chat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43000" y="5629573"/>
            <a:ext cx="10716890" cy="742950"/>
          </a:xfrm>
          <a:prstGeom prst="roundRect">
            <a:avLst>
              <a:gd name="adj" fmla="val 20513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57325" y="5639098"/>
            <a:ext cx="10409747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All consumer logistics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145640" y="5736729"/>
            <a:ext cx="547000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10B+ </a:t>
            </a:r>
            <a:r>
              <a:rPr lang="en-US" sz="165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classes, bookings, errands - anything assistants handle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37579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00175"/>
            <a:ext cx="14519910" cy="1330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650" b="1" kern="0" spc="-149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Every plan is a purchase-intent signal stronger than a </a:t>
            </a:r>
            <a:r>
              <a:rPr lang="en-US" sz="4650" i="1" kern="0" spc="-149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Google click.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3111996"/>
            <a:ext cx="7848600" cy="4090987"/>
          </a:xfrm>
          <a:prstGeom prst="roundRect">
            <a:avLst>
              <a:gd name="adj" fmla="val 4657"/>
            </a:avLst>
          </a:prstGeom>
          <a:solidFill>
            <a:srgbClr val="2563EB">
              <a:alpha val="4000"/>
            </a:srgbClr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33525" y="3483471"/>
            <a:ext cx="727957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0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· PURCHASE-INTENT ADS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533525" y="3773984"/>
            <a:ext cx="727957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Travel advertisers pay $2–3 per click on Google for intent. A Conci plan is the intent itself. At a conservative $2 / sponsored result: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533525" y="5893296"/>
            <a:ext cx="7067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33525" y="5226546"/>
            <a:ext cx="259124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5M sponsored clicks / mo </a:t>
            </a:r>
            <a:r>
              <a:rPr lang="en-US" sz="1350" dirty="0">
                <a:solidFill>
                  <a:srgbClr val="9CA3A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(&lt;1% of travel searches)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62229" y="5117009"/>
            <a:ext cx="191504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$100M+ / yr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533525" y="6164759"/>
            <a:ext cx="28636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500M sponsored clicks / mo </a:t>
            </a:r>
            <a:r>
              <a:rPr lang="en-US" sz="1350" dirty="0">
                <a:solidFill>
                  <a:srgbClr val="9CA3A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(~50% of Skyscanner's searches)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58471" y="6055221"/>
            <a:ext cx="16188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$10B+ / yr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96400" y="3111996"/>
            <a:ext cx="7848600" cy="4090987"/>
          </a:xfrm>
          <a:prstGeom prst="roundRect">
            <a:avLst>
              <a:gd name="adj" fmla="val 4657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86925" y="3483471"/>
            <a:ext cx="727957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0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SECONDARY · FREEMIUM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686925" y="3773984"/>
            <a:ext cx="72795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simple fallback that monetizes power users if ads don’t scale.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686925" y="5002709"/>
            <a:ext cx="7067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86925" y="4559796"/>
            <a:ext cx="42655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Host mode option – create unlimited trips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607531" y="4450259"/>
            <a:ext cx="12231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$5 / mo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686925" y="5940921"/>
            <a:ext cx="7067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86925" y="5274171"/>
            <a:ext cx="19009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Path to $100M ARR </a:t>
            </a:r>
            <a:r>
              <a:rPr lang="en-US" sz="1350" dirty="0">
                <a:solidFill>
                  <a:srgbClr val="9CA3A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(&lt;4% of that group)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162609" y="5164634"/>
            <a:ext cx="16680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3.3M subs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686925" y="6212384"/>
            <a:ext cx="34824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Enterprise &amp; university group plans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119300" y="6102846"/>
            <a:ext cx="17113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Expansion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25725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514475"/>
            <a:ext cx="14519910" cy="179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300" b="1" kern="0" spc="-202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People want this - and we have proof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4690555"/>
            <a:ext cx="7696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4928680"/>
            <a:ext cx="1504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108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80+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19400" y="4928680"/>
            <a:ext cx="620039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Pre-launch live demos </a:t>
            </a:r>
            <a:r>
              <a:rPr lang="en-US" sz="180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over Zoom and in person. Feedback reshaped the UI down to two friction-free screens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48800" y="4690555"/>
            <a:ext cx="7696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800" y="4928680"/>
            <a:ext cx="1504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108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MVP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125200" y="4928680"/>
            <a:ext cx="620039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Functional. </a:t>
            </a:r>
            <a:r>
              <a:rPr lang="en-US" sz="180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Drop a chat in, invite friends, vote on options, and receive calendar invites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825518"/>
            <a:ext cx="7696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6063643"/>
            <a:ext cx="1504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108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2M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19400" y="6063643"/>
            <a:ext cx="620039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Follower influencer </a:t>
            </a:r>
            <a:r>
              <a:rPr lang="en-US" sz="180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ready to advertise pro-bono at launch - plus intros to other creator partnerships (~50K worth of sponsorships)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48800" y="5825518"/>
            <a:ext cx="7696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800" y="6063643"/>
            <a:ext cx="160682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108" dirty="0">
                <a:solidFill>
                  <a:srgbClr val="2563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4,000+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227073" y="6063643"/>
            <a:ext cx="6095465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Rooms hotel operator. </a:t>
            </a:r>
            <a:r>
              <a:rPr lang="en-US" sz="1800" b="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 conversation with </a:t>
            </a:r>
            <a:r>
              <a:rPr lang="en-US" sz="180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large hotel operator in the EU to discuss monetization strategy and potential partnership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7503791"/>
            <a:ext cx="10609729" cy="164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are also building a proprietary AI two-tower travel recommender and data flywheel to personalize hotels, flights, restaurants, and itineraries from every trip interaction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37579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WEDGE &amp; VISION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4519910" cy="722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650" b="1" kern="0" spc="-149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Start with the hardest plan. </a:t>
            </a:r>
            <a:r>
              <a:rPr lang="en-US" sz="4650" i="1" kern="0" spc="-149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Earn everything after it.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143000" y="2351336"/>
            <a:ext cx="10399395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Group trips are the </a:t>
            </a:r>
            <a:r>
              <a:rPr lang="en-US" sz="1950" b="1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highest-friction, lowest-commitment </a:t>
            </a:r>
            <a:r>
              <a:rPr lang="en-US" sz="19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thing</a:t>
            </a:r>
            <a:r>
              <a:rPr lang="en-US" sz="1950" b="1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</a:t>
            </a:r>
            <a:r>
              <a:rPr lang="en-US" sz="1950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people try to coordinate. Win the hardest job and the same group comes back for the easy ones: the </a:t>
            </a:r>
            <a:r>
              <a:rPr lang="en-US" sz="1950" b="1" dirty="0">
                <a:solidFill>
                  <a:srgbClr val="37415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wedge into all of consumer logistics</a:t>
            </a:r>
            <a:endParaRPr lang="en-US" sz="1950" b="1" dirty="0"/>
          </a:p>
        </p:txBody>
      </p:sp>
      <p:sp>
        <p:nvSpPr>
          <p:cNvPr id="6" name="Shape 4"/>
          <p:cNvSpPr/>
          <p:nvPr/>
        </p:nvSpPr>
        <p:spPr>
          <a:xfrm>
            <a:off x="1067561" y="5114925"/>
            <a:ext cx="5054575" cy="38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7561" y="5412581"/>
            <a:ext cx="13430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TODAY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2467736" y="5400675"/>
            <a:ext cx="1011957" cy="257175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2511" y="5448300"/>
            <a:ext cx="8786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WEDGE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67561" y="5867400"/>
            <a:ext cx="5206212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75" b="1" kern="0" spc="-49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Group trips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067561" y="6352729"/>
            <a:ext cx="5206212" cy="2038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Highest friction, lowest barrier to entry - the plan that never makes it out of the group chat. Nail it and we own the group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sz="1600" dirty="0">
              <a:solidFill>
                <a:srgbClr val="6B7280"/>
              </a:solidFill>
              <a:latin typeface="Schibsted Grotesk" pitchFamily="34" charset="0"/>
              <a:ea typeface="Schibsted Grotesk" pitchFamily="34" charset="-122"/>
              <a:cs typeface="Schibsted Grotesk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</a:rPr>
              <a:t>Funding accelerates booking API integrations, creator-led distribution, and our proprietary travel recommender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41236" y="5114925"/>
            <a:ext cx="5054575" cy="381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1236" y="5412581"/>
            <a:ext cx="121637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NEXT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7814758" y="5400675"/>
            <a:ext cx="1101105" cy="257175"/>
          </a:xfrm>
          <a:prstGeom prst="roundRect">
            <a:avLst>
              <a:gd name="adj" fmla="val 22222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19533" y="5448300"/>
            <a:ext cx="9677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 USE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541236" y="5867400"/>
            <a:ext cx="5206212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75" b="1" kern="0" spc="-49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Dinners, events &amp; reservations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6541236" y="6352729"/>
            <a:ext cx="5206212" cy="90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same groups and the same shared memory, now handling the everyday plans: creating ecosystem for repeat consumers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14911" y="5114925"/>
            <a:ext cx="5054650" cy="2857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14911" y="5412581"/>
            <a:ext cx="146975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VISION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3541814" y="5391150"/>
            <a:ext cx="763563" cy="276225"/>
          </a:xfrm>
          <a:prstGeom prst="roundRect">
            <a:avLst>
              <a:gd name="adj" fmla="val 2069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656114" y="5448300"/>
            <a:ext cx="6111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2014150" y="5826135"/>
            <a:ext cx="5206289" cy="742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75" b="1" kern="0" spc="-49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Everything you plan with other people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12014150" y="6366679"/>
            <a:ext cx="5206289" cy="90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Classes, bookings, corporate outings: the AI operating system for logistics. The executive assistant everyone gets to keep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804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—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35400" y="900113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870150" y="2962424"/>
            <a:ext cx="1600200" cy="16002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8668" y="2124174"/>
            <a:ext cx="2428925" cy="2428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54710" y="4753124"/>
            <a:ext cx="10310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Arnav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647652" y="5229374"/>
            <a:ext cx="20452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kern="0" spc="96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· STRATEGY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43000" y="5600849"/>
            <a:ext cx="5054575" cy="2019002"/>
          </a:xfrm>
          <a:prstGeom prst="roundRect">
            <a:avLst>
              <a:gd name="adj" fmla="val 754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54443" y="5819924"/>
            <a:ext cx="4781208" cy="161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UChicago Econ &amp; DS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#1 U.S. debater out of 18,000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Lead youth policy advisor to a mayor with a $1.5B budget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GTM projects for Uber, Instacart, SF Unicorns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8343826" y="2962424"/>
            <a:ext cx="1600200" cy="16002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12920" y="2124174"/>
            <a:ext cx="2428924" cy="2428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34760" y="4753124"/>
            <a:ext cx="14184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Brandon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8380437" y="5229374"/>
            <a:ext cx="15270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kern="0" spc="96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ENGINEERING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16675" y="5600849"/>
            <a:ext cx="5054575" cy="1765697"/>
          </a:xfrm>
          <a:prstGeom prst="roundRect">
            <a:avLst>
              <a:gd name="adj" fmla="val 8631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728118" y="5819924"/>
            <a:ext cx="4781208" cy="1365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+ systems builder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Built a RAG copilot at ASML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Built ML infrastructure from scratch in Go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Graph-search tooling over GitHub's social graph</a:t>
            </a:r>
            <a:endParaRPr lang="en-US" sz="1425" dirty="0"/>
          </a:p>
        </p:txBody>
      </p:sp>
      <p:sp>
        <p:nvSpPr>
          <p:cNvPr id="16" name="Shape 12"/>
          <p:cNvSpPr/>
          <p:nvPr/>
        </p:nvSpPr>
        <p:spPr>
          <a:xfrm>
            <a:off x="13817575" y="2962424"/>
            <a:ext cx="1600200" cy="16002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568586" y="2295674"/>
            <a:ext cx="2257425" cy="22574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86929" y="4753124"/>
            <a:ext cx="14614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Sandeep</a:t>
            </a:r>
            <a:endParaRPr lang="en-US" sz="2550" dirty="0"/>
          </a:p>
        </p:txBody>
      </p:sp>
      <p:sp>
        <p:nvSpPr>
          <p:cNvPr id="19" name="Text 14"/>
          <p:cNvSpPr/>
          <p:nvPr/>
        </p:nvSpPr>
        <p:spPr>
          <a:xfrm>
            <a:off x="13543211" y="5229374"/>
            <a:ext cx="21488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kern="0" spc="96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 · OPERATOR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090350" y="5600849"/>
            <a:ext cx="5054650" cy="1765697"/>
          </a:xfrm>
          <a:prstGeom prst="roundRect">
            <a:avLst>
              <a:gd name="adj" fmla="val 8631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2201793" y="5819924"/>
            <a:ext cx="4781282" cy="1365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Stanford Math-CS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7th hire / 3rd engineer at a unicorn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Built an AI Terminal for Congress</a:t>
            </a:r>
            <a:endParaRPr lang="en-US" sz="14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728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Zeus beat Operator 5×; IM-level chess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763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5450" y="890588"/>
            <a:ext cx="8478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-45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Conci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5800784" y="919162"/>
            <a:ext cx="14204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946475"/>
            <a:ext cx="14519910" cy="2035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200" b="1" kern="0" spc="-230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Raising a </a:t>
            </a:r>
            <a:r>
              <a:rPr lang="en-US" sz="7200" i="1" kern="0" spc="-230" dirty="0">
                <a:solidFill>
                  <a:srgbClr val="2563E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pre-seed </a:t>
            </a:r>
            <a:r>
              <a:rPr lang="en-US" sz="7200" b="1" kern="0" spc="-230" dirty="0">
                <a:solidFill>
                  <a:srgbClr val="0A0A0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round to get Conci into every group chat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143000" y="6669741"/>
            <a:ext cx="8001000" cy="2779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3000" kern="0" spc="72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Looking to raise </a:t>
            </a:r>
            <a:r>
              <a:rPr lang="en-US" sz="3000" b="1" kern="0" spc="72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[$750K-1M]</a:t>
            </a:r>
          </a:p>
          <a:p>
            <a:pPr marL="0" indent="0" algn="l">
              <a:lnSpc>
                <a:spcPct val="170000"/>
              </a:lnSpc>
              <a:buNone/>
            </a:pPr>
            <a:endParaRPr lang="en-US" sz="3000" kern="0" spc="72" dirty="0">
              <a:solidFill>
                <a:srgbClr val="374151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3000" kern="0" spc="72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4"/>
              </a:rPr>
              <a:t>nigamarnav@gmail.com</a:t>
            </a:r>
            <a:r>
              <a:rPr lang="en-US" sz="3000" kern="0" spc="72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Conci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384235" y="9163050"/>
            <a:ext cx="59335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60" dirty="0">
                <a:solidFill>
                  <a:srgbClr val="9CA3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GETS THE PLAN OUT OF THE GROUP CHAT.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1224</Words>
  <Application>Microsoft Macintosh PowerPoint</Application>
  <PresentationFormat>Custom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Georgia</vt:lpstr>
      <vt:lpstr>IBM Plex Mono</vt:lpstr>
      <vt:lpstr>Newsreader</vt:lpstr>
      <vt:lpstr>Schibsted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Arnav Nigam</cp:lastModifiedBy>
  <cp:revision>13</cp:revision>
  <dcterms:created xsi:type="dcterms:W3CDTF">2026-05-29T19:43:39Z</dcterms:created>
  <dcterms:modified xsi:type="dcterms:W3CDTF">2026-05-30T22:44:30Z</dcterms:modified>
</cp:coreProperties>
</file>